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8" r:id="rId3"/>
    <p:sldId id="259" r:id="rId4"/>
    <p:sldId id="269" r:id="rId5"/>
    <p:sldId id="25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4630400" cy="8229600"/>
  <p:notesSz cx="8229600" cy="146304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Raleway" pitchFamily="2" charset="0"/>
      <p:regular r:id="rId21"/>
      <p:bold r:id="rId22"/>
      <p:italic r:id="rId23"/>
      <p:boldItalic r:id="rId24"/>
    </p:embeddedFont>
    <p:embeddedFont>
      <p:font typeface="Raleway Light" panose="020F0302020204030204" pitchFamily="34" charset="0"/>
      <p:regular r:id="rId25"/>
      <p:bold r:id="rId26"/>
      <p:italic r:id="rId27"/>
      <p:boldItalic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3"/>
  </p:normalViewPr>
  <p:slideViewPr>
    <p:cSldViewPr snapToGrid="0">
      <p:cViewPr>
        <p:scale>
          <a:sx n="185" d="100"/>
          <a:sy n="185" d="100"/>
        </p:scale>
        <p:origin x="-3024" y="-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371850" y="1097275"/>
            <a:ext cx="548665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9513b382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9513b3828_0_0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AEDCFF46-B0F2-ED3B-3473-7FD431B06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9513b3828_0_0:notes">
            <a:extLst>
              <a:ext uri="{FF2B5EF4-FFF2-40B4-BE49-F238E27FC236}">
                <a16:creationId xmlns:a16="http://schemas.microsoft.com/office/drawing/2014/main" id="{9D69ED3C-52AF-EF73-1069-8E9F61E88C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9513b3828_0_0:notes">
            <a:extLst>
              <a:ext uri="{FF2B5EF4-FFF2-40B4-BE49-F238E27FC236}">
                <a16:creationId xmlns:a16="http://schemas.microsoft.com/office/drawing/2014/main" id="{123A4466-BB5C-DE03-40DE-6A3D9D6FF1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8928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Google Shape;9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3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4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5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6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7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8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9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Google Shape;41;p10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1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1E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" name="Google Shape;53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3179" y="589478"/>
            <a:ext cx="5287923" cy="7050643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/>
          <p:nvPr/>
        </p:nvSpPr>
        <p:spPr>
          <a:xfrm>
            <a:off x="793790" y="1817013"/>
            <a:ext cx="7556421" cy="1240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900"/>
              <a:buFont typeface="Raleway"/>
              <a:buNone/>
            </a:pPr>
            <a:r>
              <a:rPr lang="en-US" sz="3900" b="0" i="0" u="none" strike="noStrike" cap="non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ETL-пайплайн для обработки сетевого трафика IoT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793790" y="3354824"/>
            <a:ext cx="7556421" cy="1270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В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рамках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данной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работы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реализован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ETL-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пайплайн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для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обработки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сетевого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трафика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IoT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основе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датасета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1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BoT</a:t>
            </a:r>
            <a:r>
              <a:rPr lang="en-US" sz="1550" b="1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-IoT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Основная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задача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преобразование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сырых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сетевых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данных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(PCAP/CSV)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в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структурированный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набор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признаков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пригодный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для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обучения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моделей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обнаружения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0" i="0" u="none" strike="noStrike" cap="none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атак</a:t>
            </a:r>
            <a:r>
              <a:rPr lang="en-US" sz="15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5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793790" y="4848225"/>
            <a:ext cx="7556421" cy="952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endParaRPr sz="15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755733" y="5136970"/>
            <a:ext cx="1975604" cy="373142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874793" y="5196513"/>
            <a:ext cx="1975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50"/>
              <a:buFont typeface="Roboto"/>
              <a:buNone/>
            </a:pPr>
            <a:r>
              <a:rPr lang="en-US" sz="125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КИБЕРБЕЗОПАСНОСТЬ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2830516" y="5129350"/>
            <a:ext cx="498396" cy="388382"/>
          </a:xfrm>
          <a:prstGeom prst="roundRect">
            <a:avLst>
              <a:gd name="adj" fmla="val 17171"/>
            </a:avLst>
          </a:prstGeom>
          <a:noFill/>
          <a:ln w="9525" cap="flat" cmpd="sng">
            <a:solidFill>
              <a:srgbClr val="1B1B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2957198" y="5196502"/>
            <a:ext cx="371595" cy="254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250"/>
              <a:buFont typeface="Roboto"/>
              <a:buNone/>
            </a:pPr>
            <a:r>
              <a:rPr lang="en-US" sz="1250" b="0" i="0" u="none" strike="noStrike" cap="none" dirty="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IOT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3428091" y="5129350"/>
            <a:ext cx="525304" cy="388382"/>
          </a:xfrm>
          <a:prstGeom prst="roundRect">
            <a:avLst>
              <a:gd name="adj" fmla="val 17171"/>
            </a:avLst>
          </a:prstGeom>
          <a:noFill/>
          <a:ln w="9525" cap="flat" cmpd="sng">
            <a:solidFill>
              <a:srgbClr val="1B1B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3554764" y="5196514"/>
            <a:ext cx="498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250"/>
              <a:buFont typeface="Roboto"/>
              <a:buNone/>
            </a:pPr>
            <a:r>
              <a:rPr lang="en-US" sz="1250" b="0" i="0" u="none" strike="noStrike" cap="none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ETL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4052573" y="5129350"/>
            <a:ext cx="2047875" cy="388382"/>
          </a:xfrm>
          <a:prstGeom prst="roundRect">
            <a:avLst>
              <a:gd name="adj" fmla="val 17171"/>
            </a:avLst>
          </a:prstGeom>
          <a:noFill/>
          <a:ln w="9525" cap="flat" cmpd="sng">
            <a:solidFill>
              <a:srgbClr val="1B1B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4179271" y="5196513"/>
            <a:ext cx="22017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250"/>
              <a:buFont typeface="Roboto"/>
              <a:buNone/>
            </a:pPr>
            <a:r>
              <a:rPr lang="en-US" sz="1250" b="0" i="0" u="none" strike="noStrike" cap="none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МАШИННОЕ ОБУЧЕНИЕ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793790" y="1023104"/>
            <a:ext cx="4961811" cy="62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900"/>
              <a:buFont typeface="Raleway"/>
              <a:buNone/>
            </a:pPr>
            <a:r>
              <a:rPr lang="en-US" sz="39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Датасет BoT-IoT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793790" y="2119432"/>
            <a:ext cx="6955631" cy="14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В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работе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используется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датасет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1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BoT</a:t>
            </a:r>
            <a:r>
              <a:rPr lang="en-US" sz="1550" b="1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-IoT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содержащий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реалистичный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сетевой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трафик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с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различными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типами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атак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Общий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объём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данных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составляет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1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десятки</a:t>
            </a:r>
            <a:r>
              <a:rPr lang="en-US" sz="1550" b="1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1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гигабайт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включая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PCAP-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дампы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и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CSV-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файлы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Это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позволяет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моделировать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реальные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сценарии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работы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IDS-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систем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5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793790" y="3823753"/>
            <a:ext cx="3378637" cy="1586032"/>
          </a:xfrm>
          <a:prstGeom prst="roundRect">
            <a:avLst>
              <a:gd name="adj" fmla="val 6918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C7C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770930" y="3823753"/>
            <a:ext cx="91440" cy="1586032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1083588" y="4044971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950"/>
              <a:buFont typeface="Raleway"/>
              <a:buNone/>
            </a:pPr>
            <a:r>
              <a:rPr lang="en-US" sz="19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Нормальный трафик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1083588" y="4553487"/>
            <a:ext cx="2867620" cy="63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Легитимная сетевая активность IoT-устройств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4370784" y="3823753"/>
            <a:ext cx="3378637" cy="1586032"/>
          </a:xfrm>
          <a:prstGeom prst="roundRect">
            <a:avLst>
              <a:gd name="adj" fmla="val 6918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C7C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4347924" y="3823753"/>
            <a:ext cx="91440" cy="1586032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4660583" y="4044971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950"/>
              <a:buFont typeface="Raleway"/>
              <a:buNone/>
            </a:pPr>
            <a:r>
              <a:rPr lang="en-US" sz="1950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DDoS / DoS </a:t>
            </a:r>
            <a:r>
              <a:rPr lang="en-US" sz="1950" dirty="0" err="1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атаки</a:t>
            </a:r>
            <a:endParaRPr sz="1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4660583" y="4553487"/>
            <a:ext cx="2867620" cy="63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Атаки типа «отказ в обслуживании»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793790" y="5608142"/>
            <a:ext cx="3378637" cy="1586032"/>
          </a:xfrm>
          <a:prstGeom prst="roundRect">
            <a:avLst>
              <a:gd name="adj" fmla="val 6918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C7C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770930" y="5608142"/>
            <a:ext cx="91440" cy="1586032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1083588" y="5829360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950"/>
              <a:buFont typeface="Raleway"/>
              <a:buNone/>
            </a:pPr>
            <a:r>
              <a:rPr lang="en-US" sz="19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Разведка (Scan)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1083588" y="6337876"/>
            <a:ext cx="2867620" cy="63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Сканирование портов и сетевых сервисов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4370784" y="5608142"/>
            <a:ext cx="3378637" cy="1586032"/>
          </a:xfrm>
          <a:prstGeom prst="roundRect">
            <a:avLst>
              <a:gd name="adj" fmla="val 6918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C7C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4347924" y="5608142"/>
            <a:ext cx="91440" cy="1586032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4660583" y="5829360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950"/>
              <a:buFont typeface="Raleway"/>
              <a:buNone/>
            </a:pPr>
            <a:r>
              <a:rPr lang="en-US" sz="19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Утечки данных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4660583" y="6337876"/>
            <a:ext cx="2867620" cy="63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Вредоносная активность и exfiltration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7970758" y="3823753"/>
            <a:ext cx="5888712" cy="3360842"/>
          </a:xfrm>
          <a:prstGeom prst="roundRect">
            <a:avLst>
              <a:gd name="adj" fmla="val 2714"/>
            </a:avLst>
          </a:prstGeom>
          <a:solidFill>
            <a:srgbClr val="1B1B27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8296632" y="4616769"/>
            <a:ext cx="3192899" cy="31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Raleway"/>
              <a:buNone/>
            </a:pPr>
            <a:r>
              <a:rPr lang="en-US" sz="1950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Ключевые</a:t>
            </a:r>
            <a:r>
              <a:rPr lang="en-US" sz="195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950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характеристики</a:t>
            </a:r>
            <a:endParaRPr sz="1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8296632" y="5090160"/>
            <a:ext cx="5491996" cy="1478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Roboto"/>
              <a:buChar char="•"/>
            </a:pPr>
            <a:r>
              <a:rPr lang="en-US" sz="155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Десятки</a:t>
            </a:r>
            <a:r>
              <a:rPr lang="en-US" sz="15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ГБ PCAP-</a:t>
            </a:r>
            <a:r>
              <a:rPr lang="en-US" sz="155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дампов</a:t>
            </a:r>
            <a:endParaRPr sz="15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Roboto"/>
              <a:buChar char="•"/>
            </a:pPr>
            <a:r>
              <a:rPr lang="en-US" sz="155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Множество</a:t>
            </a:r>
            <a:r>
              <a:rPr lang="en-US" sz="15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типов</a:t>
            </a:r>
            <a:r>
              <a:rPr lang="en-US" sz="15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атак</a:t>
            </a:r>
            <a:endParaRPr sz="15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Roboto"/>
              <a:buChar char="•"/>
            </a:pPr>
            <a:r>
              <a:rPr lang="en-US" sz="155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Реалистичные</a:t>
            </a:r>
            <a:r>
              <a:rPr lang="en-US" sz="15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сценарии</a:t>
            </a:r>
            <a:r>
              <a:rPr lang="en-US" sz="15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IoT</a:t>
            </a:r>
          </a:p>
        </p:txBody>
      </p:sp>
      <p:sp>
        <p:nvSpPr>
          <p:cNvPr id="102" name="Google Shape;102;p15"/>
          <p:cNvSpPr/>
          <p:nvPr/>
        </p:nvSpPr>
        <p:spPr>
          <a:xfrm>
            <a:off x="12801600" y="7650178"/>
            <a:ext cx="1747319" cy="506994"/>
          </a:xfrm>
          <a:prstGeom prst="rect">
            <a:avLst/>
          </a:prstGeom>
          <a:solidFill>
            <a:srgbClr val="FEFE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6"/>
          <p:cNvPicPr preferRelativeResize="0"/>
          <p:nvPr/>
        </p:nvPicPr>
        <p:blipFill rotWithShape="1">
          <a:blip r:embed="rId3">
            <a:alphaModFix/>
          </a:blip>
          <a:srcRect t="9617" r="-827"/>
          <a:stretch/>
        </p:blipFill>
        <p:spPr>
          <a:xfrm>
            <a:off x="524426" y="874412"/>
            <a:ext cx="13581548" cy="648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/>
          <p:nvPr/>
        </p:nvSpPr>
        <p:spPr>
          <a:xfrm>
            <a:off x="12801600" y="7650178"/>
            <a:ext cx="1747200" cy="507000"/>
          </a:xfrm>
          <a:prstGeom prst="rect">
            <a:avLst/>
          </a:prstGeom>
          <a:solidFill>
            <a:srgbClr val="FEFE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5EFE809-A980-9774-3510-30E83DB48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6">
            <a:extLst>
              <a:ext uri="{FF2B5EF4-FFF2-40B4-BE49-F238E27FC236}">
                <a16:creationId xmlns:a16="http://schemas.microsoft.com/office/drawing/2014/main" id="{37F69D86-FD80-FF77-AACD-2009407058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069" t="59933" r="43745" b="16218"/>
          <a:stretch/>
        </p:blipFill>
        <p:spPr>
          <a:xfrm>
            <a:off x="1032602" y="2556613"/>
            <a:ext cx="12565195" cy="3116373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>
            <a:extLst>
              <a:ext uri="{FF2B5EF4-FFF2-40B4-BE49-F238E27FC236}">
                <a16:creationId xmlns:a16="http://schemas.microsoft.com/office/drawing/2014/main" id="{57767CE7-717C-DBDE-FAA0-978D00DDB96F}"/>
              </a:ext>
            </a:extLst>
          </p:cNvPr>
          <p:cNvSpPr/>
          <p:nvPr/>
        </p:nvSpPr>
        <p:spPr>
          <a:xfrm>
            <a:off x="12801600" y="7650178"/>
            <a:ext cx="1747200" cy="507000"/>
          </a:xfrm>
          <a:prstGeom prst="rect">
            <a:avLst/>
          </a:prstGeom>
          <a:solidFill>
            <a:srgbClr val="FEFE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0B77727-DFEB-7247-DB2A-81231D0FF2F6}"/>
              </a:ext>
            </a:extLst>
          </p:cNvPr>
          <p:cNvSpPr/>
          <p:nvPr/>
        </p:nvSpPr>
        <p:spPr>
          <a:xfrm>
            <a:off x="1032602" y="3889420"/>
            <a:ext cx="12915218" cy="81136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102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/>
          <p:nvPr/>
        </p:nvSpPr>
        <p:spPr>
          <a:xfrm>
            <a:off x="793790" y="1175385"/>
            <a:ext cx="113474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Raleway"/>
              <a:buNone/>
            </a:pPr>
            <a:r>
              <a:rPr lang="en-US" sz="44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Исходные данные: сырые сетевые записи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907" y="2536627"/>
            <a:ext cx="4205168" cy="420516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/>
          <p:nvPr/>
        </p:nvSpPr>
        <p:spPr>
          <a:xfrm>
            <a:off x="5559981" y="2451140"/>
            <a:ext cx="3128486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Что мы видим на входе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12801600" y="7650178"/>
            <a:ext cx="1747200" cy="507000"/>
          </a:xfrm>
          <a:prstGeom prst="rect">
            <a:avLst/>
          </a:prstGeom>
          <a:solidFill>
            <a:srgbClr val="FEFE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55E6495-38BC-3939-9CE2-EC7CD67636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837" t="13306" r="-865" b="28052"/>
          <a:stretch/>
        </p:blipFill>
        <p:spPr>
          <a:xfrm>
            <a:off x="4691813" y="2451139"/>
            <a:ext cx="9787035" cy="42906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/>
          <p:nvPr/>
        </p:nvSpPr>
        <p:spPr>
          <a:xfrm>
            <a:off x="1568291" y="453747"/>
            <a:ext cx="3880009" cy="455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561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850"/>
              <a:buFont typeface="Raleway"/>
              <a:buNone/>
            </a:pPr>
            <a:r>
              <a:rPr lang="en-US" sz="28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Общая концепция ETL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1568291" y="1123236"/>
            <a:ext cx="11493698" cy="40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ETL (Extract, Transform, Load) представляет собой процесс подготовки данных, включающий извлечение, преобразование и загрузку. Такой подход позволяет стандартизировать обработку и обеспечить повторяемость экспериментов.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88131" y="1680602"/>
            <a:ext cx="10254020" cy="56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3540294" y="4273376"/>
            <a:ext cx="2375936" cy="323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000"/>
              <a:buFont typeface="Raleway"/>
              <a:buNone/>
            </a:pPr>
            <a:r>
              <a:rPr lang="en-US" sz="2000" dirty="0" err="1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Извлечение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9539937" y="4236920"/>
            <a:ext cx="2375936" cy="323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000"/>
              <a:buFont typeface="Raleway"/>
              <a:buNone/>
            </a:pPr>
            <a:r>
              <a:rPr lang="en-US" sz="2000" dirty="0" err="1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Преобразование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6609077" y="4248593"/>
            <a:ext cx="2375936" cy="323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000"/>
              <a:buFont typeface="Raleway"/>
              <a:buNone/>
            </a:pPr>
            <a:r>
              <a:rPr lang="ru-RU" sz="2000" dirty="0">
                <a:solidFill>
                  <a:srgbClr val="1B1B27"/>
                </a:solidFill>
                <a:latin typeface="Raleway"/>
                <a:ea typeface="Calibri"/>
                <a:cs typeface="Calibri"/>
                <a:sym typeface="Raleway"/>
              </a:rPr>
              <a:t>Обработка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12801600" y="7650178"/>
            <a:ext cx="1747319" cy="506994"/>
          </a:xfrm>
          <a:prstGeom prst="rect">
            <a:avLst/>
          </a:prstGeom>
          <a:solidFill>
            <a:srgbClr val="FEFE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/>
          <p:nvPr/>
        </p:nvSpPr>
        <p:spPr>
          <a:xfrm>
            <a:off x="793790" y="1373148"/>
            <a:ext cx="6532721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Raleway"/>
              <a:buNone/>
            </a:pPr>
            <a:r>
              <a:rPr lang="en-US" sz="44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Архитектура пайплайна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793790" y="2535555"/>
            <a:ext cx="13042821" cy="370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Функция </a:t>
            </a:r>
            <a:r>
              <a:rPr lang="en-US" sz="1750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run_etl()</a:t>
            </a: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реализует полный цикл обработки. Каждый этап вынесен в отдельную функцию.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793790" y="3161228"/>
            <a:ext cx="453628" cy="283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 Light"/>
              <a:buNone/>
            </a:pPr>
            <a:r>
              <a:rPr lang="en-US" sz="1750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01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793790" y="3516273"/>
            <a:ext cx="4196358" cy="3048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793790" y="369058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extract_data()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793790" y="4180999"/>
            <a:ext cx="4196358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Чтение PCAP и CSV, парсинг полей через tshark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5216962" y="3161228"/>
            <a:ext cx="453628" cy="283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 Light"/>
              <a:buNone/>
            </a:pPr>
            <a:r>
              <a:rPr lang="en-US" sz="1750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02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5216962" y="3516273"/>
            <a:ext cx="4196358" cy="3048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5216962" y="369058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transform_data()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5216962" y="4180999"/>
            <a:ext cx="4196358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Агрегация пакетов в потоки, генерация признаков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9640133" y="3161228"/>
            <a:ext cx="453628" cy="283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 Light"/>
              <a:buNone/>
            </a:pPr>
            <a:r>
              <a:rPr lang="en-US" sz="1750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03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9640133" y="3516273"/>
            <a:ext cx="4196358" cy="3048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9640133" y="369058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label_data()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9640133" y="4180999"/>
            <a:ext cx="4196358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Бинарная разметка: нормальный трафик/атака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793790" y="5303639"/>
            <a:ext cx="453628" cy="283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 Light"/>
              <a:buNone/>
            </a:pPr>
            <a:r>
              <a:rPr lang="en-US" sz="1750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04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793790" y="5658683"/>
            <a:ext cx="6407944" cy="3048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793790" y="5832991"/>
            <a:ext cx="4188023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clean_data() → normalize_data()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793790" y="6323409"/>
            <a:ext cx="6407944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Удаление пропусков, нормализация, разбиение на выборки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7428548" y="5303639"/>
            <a:ext cx="453628" cy="283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 Light"/>
              <a:buNone/>
            </a:pPr>
            <a:r>
              <a:rPr lang="en-US" sz="1750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rPr>
              <a:t>05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7428548" y="5658683"/>
            <a:ext cx="6407944" cy="3048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7428548" y="583299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save_data()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7428548" y="6323409"/>
            <a:ext cx="6407944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Сохранение готового датасета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12801600" y="7650178"/>
            <a:ext cx="1747200" cy="507000"/>
          </a:xfrm>
          <a:prstGeom prst="rect">
            <a:avLst/>
          </a:prstGeom>
          <a:solidFill>
            <a:srgbClr val="FEFE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/>
          <p:nvPr/>
        </p:nvSpPr>
        <p:spPr>
          <a:xfrm>
            <a:off x="793789" y="1069419"/>
            <a:ext cx="11544171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Raleway"/>
              <a:buNone/>
            </a:pPr>
            <a:r>
              <a:rPr lang="en-US" sz="4450" dirty="0" err="1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Этап</a:t>
            </a:r>
            <a:r>
              <a:rPr lang="en-US" sz="4450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 EXTRACT: </a:t>
            </a:r>
            <a:r>
              <a:rPr lang="en-US" sz="4450" dirty="0" err="1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извлечение</a:t>
            </a:r>
            <a:r>
              <a:rPr lang="en-US" sz="4450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4450" dirty="0" err="1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из</a:t>
            </a:r>
            <a:r>
              <a:rPr lang="en-US" sz="4450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 PCAP</a:t>
            </a:r>
            <a:endParaRPr sz="4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793790" y="2373511"/>
            <a:ext cx="6244709" cy="4082653"/>
          </a:xfrm>
          <a:prstGeom prst="roundRect">
            <a:avLst>
              <a:gd name="adj" fmla="val 2333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782475" y="2373499"/>
            <a:ext cx="6267300" cy="4626000"/>
          </a:xfrm>
          <a:prstGeom prst="roundRect">
            <a:avLst>
              <a:gd name="adj" fmla="val 833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1065967" y="2600325"/>
            <a:ext cx="5700355" cy="3629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Consolas"/>
              <a:buNone/>
            </a:pPr>
            <a:r>
              <a:rPr lang="en-US" sz="1750" dirty="0" err="1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extract_data</a:t>
            </a:r>
            <a:r>
              <a:rPr lang="en-US" sz="1750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&lt;- function(</a:t>
            </a:r>
            <a:r>
              <a:rPr lang="en-US" sz="1750" dirty="0" err="1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pcap_file</a:t>
            </a:r>
            <a:r>
              <a:rPr lang="en-US" sz="1750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Consolas"/>
              <a:buNone/>
            </a:pPr>
            <a:r>
              <a:rPr lang="en-US" sz="1750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750" dirty="0" err="1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cmd</a:t>
            </a:r>
            <a:r>
              <a:rPr lang="en-US" sz="1750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&lt;- paste(</a:t>
            </a:r>
            <a:endParaRPr sz="1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Consolas"/>
              <a:buNone/>
            </a:pPr>
            <a:r>
              <a:rPr lang="en-US" sz="1750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"</a:t>
            </a:r>
            <a:r>
              <a:rPr lang="en-US" sz="1750" dirty="0" err="1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tshark</a:t>
            </a:r>
            <a:r>
              <a:rPr lang="en-US" sz="1750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-r", </a:t>
            </a:r>
            <a:r>
              <a:rPr lang="en-US" sz="1750" dirty="0" err="1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pcap_file</a:t>
            </a:r>
            <a:r>
              <a:rPr lang="en-US" sz="1750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Consolas"/>
              <a:buNone/>
            </a:pPr>
            <a:r>
              <a:rPr lang="en-US" sz="1750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"-T fields",</a:t>
            </a:r>
            <a:endParaRPr sz="1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Consolas"/>
              <a:buNone/>
            </a:pPr>
            <a:r>
              <a:rPr lang="en-US" sz="1750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"-e </a:t>
            </a:r>
            <a:r>
              <a:rPr lang="en-US" sz="1750" dirty="0" err="1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ip.src</a:t>
            </a:r>
            <a:r>
              <a:rPr lang="en-US" sz="1750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-e </a:t>
            </a:r>
            <a:r>
              <a:rPr lang="en-US" sz="1750" dirty="0" err="1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ip.dst</a:t>
            </a:r>
            <a:r>
              <a:rPr lang="en-US" sz="1750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",</a:t>
            </a:r>
            <a:endParaRPr sz="1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Consolas"/>
              <a:buNone/>
            </a:pPr>
            <a:r>
              <a:rPr lang="en-US" sz="1750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  "-e </a:t>
            </a:r>
            <a:r>
              <a:rPr lang="en-US" sz="1750" dirty="0" err="1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tcp.srcport</a:t>
            </a:r>
            <a:r>
              <a:rPr lang="en-US" sz="1750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-e </a:t>
            </a:r>
            <a:r>
              <a:rPr lang="en-US" sz="1750" dirty="0" err="1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tcp.dstport</a:t>
            </a:r>
            <a:r>
              <a:rPr lang="en-US" sz="1750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 sz="1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Consolas"/>
              <a:buNone/>
            </a:pPr>
            <a:r>
              <a:rPr lang="en-US" sz="1750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)</a:t>
            </a:r>
            <a:endParaRPr sz="1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Consolas"/>
              <a:buNone/>
            </a:pPr>
            <a:r>
              <a:rPr lang="en-US" sz="1750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data &lt;- </a:t>
            </a:r>
            <a:r>
              <a:rPr lang="en-US" sz="1750" dirty="0" err="1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fread</a:t>
            </a:r>
            <a:r>
              <a:rPr lang="en-US" sz="1750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750" dirty="0" err="1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cmd</a:t>
            </a:r>
            <a:r>
              <a:rPr lang="en-US" sz="1750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Consolas"/>
              <a:buNone/>
            </a:pPr>
            <a:r>
              <a:rPr lang="en-US" sz="1750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return(data)</a:t>
            </a:r>
            <a:endParaRPr sz="1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Consolas"/>
              <a:buNone/>
            </a:pPr>
            <a:r>
              <a:rPr lang="en-US" sz="1750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7599521" y="234517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Как это работает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7599521" y="2926318"/>
            <a:ext cx="6244709" cy="1096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Consolas"/>
              <a:buNone/>
            </a:pPr>
            <a:r>
              <a:rPr lang="en-US" sz="1750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tshark</a:t>
            </a: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читает бинарный PCAP-файл и выводит только нужные поля. Это сокращает объём данных на раннем этапе.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7599521" y="4226719"/>
            <a:ext cx="6244709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Consolas"/>
              <a:buNone/>
            </a:pPr>
            <a:r>
              <a:rPr lang="en-US" sz="1750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fread()</a:t>
            </a: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считывает вывод команды напрямую в таблицу data.table — без промежуточных файлов.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12801600" y="7650178"/>
            <a:ext cx="1747200" cy="507000"/>
          </a:xfrm>
          <a:prstGeom prst="rect">
            <a:avLst/>
          </a:prstGeom>
          <a:solidFill>
            <a:srgbClr val="FEFE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/>
          <p:nvPr/>
        </p:nvSpPr>
        <p:spPr>
          <a:xfrm>
            <a:off x="1079183" y="581263"/>
            <a:ext cx="8732758" cy="564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943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550"/>
              <a:buFont typeface="Raleway"/>
              <a:buNone/>
            </a:pPr>
            <a:r>
              <a:rPr lang="en-US" sz="35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Этап TRANSFORM: от пакетов к потокам</a:t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1079183" y="1505903"/>
            <a:ext cx="2525197" cy="28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750"/>
              <a:buFont typeface="Raleway"/>
              <a:buNone/>
            </a:pPr>
            <a:r>
              <a:rPr lang="en-US" sz="17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Идентификация потока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1079183" y="1932265"/>
            <a:ext cx="6113354" cy="267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lang="en-US" sz="140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Формируется</a:t>
            </a:r>
            <a:r>
              <a:rPr lang="en-US" sz="14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уникальный</a:t>
            </a:r>
            <a:r>
              <a:rPr lang="en-US" sz="14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flow_id</a:t>
            </a:r>
            <a:r>
              <a:rPr lang="en-US" sz="14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sz="14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основе</a:t>
            </a:r>
            <a:r>
              <a:rPr lang="en-US" sz="14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кортежа из 5 параметров</a:t>
            </a:r>
            <a:r>
              <a:rPr lang="en-US" sz="14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1079183" y="2361605"/>
            <a:ext cx="6015395" cy="1660446"/>
          </a:xfrm>
          <a:prstGeom prst="roundRect">
            <a:avLst>
              <a:gd name="adj" fmla="val 4572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1070253" y="2361605"/>
            <a:ext cx="6033254" cy="1822370"/>
          </a:xfrm>
          <a:prstGeom prst="roundRect">
            <a:avLst>
              <a:gd name="adj" fmla="val 1633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1296114" y="2542342"/>
            <a:ext cx="5581531" cy="1298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data[, flow_id := paste(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src_ip, dst_ip,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src_port, dst_port,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proto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)]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1079183" y="4183975"/>
            <a:ext cx="2259330" cy="28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750"/>
              <a:buFont typeface="Raleway"/>
              <a:buNone/>
            </a:pPr>
            <a:r>
              <a:rPr lang="en-US" sz="17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Агрегация по потоку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1079183" y="4628317"/>
            <a:ext cx="6015395" cy="1660446"/>
          </a:xfrm>
          <a:prstGeom prst="roundRect">
            <a:avLst>
              <a:gd name="adj" fmla="val 4572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1070253" y="4628317"/>
            <a:ext cx="6033254" cy="1822370"/>
          </a:xfrm>
          <a:prstGeom prst="roundRect">
            <a:avLst>
              <a:gd name="adj" fmla="val 1633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1296114" y="4809053"/>
            <a:ext cx="5581531" cy="1298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flows &lt;- data[, .(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pkt_count = .N,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byte_count = sum(length),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duration = max(time) - min(time)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), by = flow_id]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7543205" y="1505903"/>
            <a:ext cx="2515314" cy="28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750"/>
              <a:buFont typeface="Raleway"/>
              <a:buNone/>
            </a:pPr>
            <a:r>
              <a:rPr lang="en-US" sz="17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Что получается в итоге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7543205" y="1932265"/>
            <a:ext cx="6015395" cy="51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lang="en-US" sz="14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Агрегация позволяет перейти от анализа отдельных пакетов к анализу </a:t>
            </a:r>
            <a:r>
              <a:rPr lang="en-US" sz="1400" b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поведения сетевых потоков</a:t>
            </a:r>
            <a:r>
              <a:rPr lang="en-US" sz="14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1079183" y="6612612"/>
            <a:ext cx="4061341" cy="1035725"/>
          </a:xfrm>
          <a:prstGeom prst="roundRect">
            <a:avLst>
              <a:gd name="adj" fmla="val 7330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C7C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1282779" y="6816209"/>
            <a:ext cx="2259330" cy="28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"/>
              <a:buNone/>
            </a:pPr>
            <a:r>
              <a:rPr lang="en-US" sz="1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.N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1282779" y="7184946"/>
            <a:ext cx="3654147" cy="259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lang="en-US" sz="14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Количество пакетов в потоке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284470" y="6612612"/>
            <a:ext cx="4061341" cy="1035725"/>
          </a:xfrm>
          <a:prstGeom prst="roundRect">
            <a:avLst>
              <a:gd name="adj" fmla="val 7330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C7C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488067" y="6816209"/>
            <a:ext cx="2259330" cy="28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"/>
              <a:buNone/>
            </a:pPr>
            <a:r>
              <a:rPr lang="en-US" sz="1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sum(length)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488067" y="7184946"/>
            <a:ext cx="3654147" cy="259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lang="en-US" sz="14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Общий объём переданных данных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9489758" y="6612612"/>
            <a:ext cx="4061341" cy="1035725"/>
          </a:xfrm>
          <a:prstGeom prst="roundRect">
            <a:avLst>
              <a:gd name="adj" fmla="val 7330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C7C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9693354" y="6816209"/>
            <a:ext cx="2259330" cy="28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"/>
              <a:buNone/>
            </a:pPr>
            <a:r>
              <a:rPr lang="en-US" sz="1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duration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9693354" y="7184946"/>
            <a:ext cx="3654147" cy="259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lang="en-US" sz="14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Длительность соединения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12801600" y="7650178"/>
            <a:ext cx="1747200" cy="507000"/>
          </a:xfrm>
          <a:prstGeom prst="rect">
            <a:avLst/>
          </a:prstGeom>
          <a:solidFill>
            <a:srgbClr val="FEFE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/>
          <p:nvPr/>
        </p:nvSpPr>
        <p:spPr>
          <a:xfrm>
            <a:off x="793790" y="897374"/>
            <a:ext cx="8943976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Raleway"/>
              <a:buNone/>
            </a:pPr>
            <a:r>
              <a:rPr lang="en-US" sz="4450" dirty="0" err="1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Этапы</a:t>
            </a:r>
            <a:r>
              <a:rPr lang="en-US" sz="4450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 LABEL </a:t>
            </a:r>
            <a:r>
              <a:rPr lang="en-US" sz="4450" dirty="0" err="1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и</a:t>
            </a:r>
            <a:r>
              <a:rPr lang="en-US" sz="4450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 CLEAN</a:t>
            </a:r>
            <a:endParaRPr sz="4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793790" y="217312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Разметка данных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793790" y="2782610"/>
            <a:ext cx="6244709" cy="1542336"/>
          </a:xfrm>
          <a:prstGeom prst="roundRect">
            <a:avLst>
              <a:gd name="adj" fmla="val 617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782479" y="2782610"/>
            <a:ext cx="6267331" cy="1542336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1065967" y="3009424"/>
            <a:ext cx="5700355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Consolas"/>
              <a:buNone/>
            </a:pPr>
            <a:r>
              <a:rPr lang="en-US" sz="1750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data[, </a:t>
            </a:r>
            <a:r>
              <a:rPr lang="en-US" sz="1750" dirty="0" err="1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is_attack</a:t>
            </a:r>
            <a:r>
              <a:rPr lang="en-US" sz="1750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:= </a:t>
            </a:r>
            <a:r>
              <a:rPr lang="en-US" sz="1750" dirty="0" err="1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ifelse</a:t>
            </a:r>
            <a:r>
              <a:rPr lang="en-US" sz="1750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Consolas"/>
              <a:buNone/>
            </a:pPr>
            <a:r>
              <a:rPr lang="en-US" sz="1750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 category == "Normal", 0, 1</a:t>
            </a:r>
            <a:endParaRPr sz="1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Consolas"/>
              <a:buNone/>
            </a:pPr>
            <a:r>
              <a:rPr lang="en-US" sz="1750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)]</a:t>
            </a:r>
            <a:endParaRPr sz="1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793790" y="4580096"/>
            <a:ext cx="6244709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Бинарная</a:t>
            </a:r>
            <a:r>
              <a:rPr lang="en-US" sz="17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7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переменная</a:t>
            </a:r>
            <a:r>
              <a:rPr lang="en-US" sz="17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750" dirty="0" err="1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is_attack</a:t>
            </a:r>
            <a:r>
              <a:rPr lang="en-US" sz="17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</a:t>
            </a:r>
            <a:r>
              <a:rPr lang="en-US" sz="17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целевая</a:t>
            </a:r>
            <a:r>
              <a:rPr lang="en-US" sz="17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7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метка</a:t>
            </a:r>
            <a:r>
              <a:rPr lang="en-US" sz="17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7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для</a:t>
            </a:r>
            <a:r>
              <a:rPr lang="en-US" sz="17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7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обучения</a:t>
            </a:r>
            <a:r>
              <a:rPr lang="en-US" sz="17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7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модели</a:t>
            </a:r>
            <a:r>
              <a:rPr lang="en-US" sz="17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7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классификации</a:t>
            </a:r>
            <a:r>
              <a:rPr lang="en-US" sz="17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7599521" y="217312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Очистка данных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7599521" y="2782610"/>
            <a:ext cx="6244709" cy="2993946"/>
          </a:xfrm>
          <a:prstGeom prst="roundRect">
            <a:avLst>
              <a:gd name="adj" fmla="val 3182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7588200" y="2782600"/>
            <a:ext cx="6267300" cy="3384024"/>
          </a:xfrm>
          <a:prstGeom prst="roundRect">
            <a:avLst>
              <a:gd name="adj" fmla="val 1136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7871698" y="3009424"/>
            <a:ext cx="5700355" cy="254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750"/>
              <a:buFont typeface="Consolas"/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data &lt;- </a:t>
            </a:r>
            <a:r>
              <a:rPr lang="en-US" sz="1750" dirty="0" err="1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na.omit</a:t>
            </a: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(data)</a:t>
            </a:r>
            <a:endParaRPr sz="1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endParaRPr sz="1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750"/>
              <a:buFont typeface="Consolas"/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data[, duration := </a:t>
            </a:r>
            <a:r>
              <a:rPr lang="en-US" sz="1750" dirty="0" err="1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ifelse</a:t>
            </a: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750"/>
              <a:buFont typeface="Consolas"/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750" dirty="0" err="1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is.na</a:t>
            </a: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(duration),</a:t>
            </a:r>
            <a:endParaRPr sz="1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750"/>
              <a:buFont typeface="Consolas"/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median(duration, </a:t>
            </a:r>
            <a:r>
              <a:rPr lang="en-US" sz="1750" dirty="0" err="1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na.rm</a:t>
            </a: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= TRUE),</a:t>
            </a:r>
            <a:endParaRPr sz="1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750"/>
              <a:buFont typeface="Consolas"/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duration</a:t>
            </a:r>
            <a:endParaRPr sz="1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750"/>
              <a:buFont typeface="Consolas"/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)]</a:t>
            </a:r>
            <a:endParaRPr sz="1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7599496" y="6245331"/>
            <a:ext cx="6244800" cy="10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Строки с пропусками удаляются, а пропуски в </a:t>
            </a:r>
            <a:r>
              <a:rPr lang="en-US" sz="1750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duration</a:t>
            </a: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заполняются медианой — это повышает устойчивость модели к шуму.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12801600" y="7650178"/>
            <a:ext cx="1747200" cy="507000"/>
          </a:xfrm>
          <a:prstGeom prst="rect">
            <a:avLst/>
          </a:prstGeom>
          <a:solidFill>
            <a:srgbClr val="FEFE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/>
          <p:nvPr/>
        </p:nvSpPr>
        <p:spPr>
          <a:xfrm>
            <a:off x="793790" y="598527"/>
            <a:ext cx="6487001" cy="62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900"/>
              <a:buFont typeface="Raleway"/>
              <a:buNone/>
            </a:pPr>
            <a:r>
              <a:rPr lang="en-US" sz="39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Разметка и очистка данных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793790" y="1615440"/>
            <a:ext cx="13042821" cy="63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этапе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разметки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каждому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потоку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присваивается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1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метка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определяющая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наличие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атаки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Разметка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может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выполняться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основе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категории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или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источника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данных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Очистка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данных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необходима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для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повышения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качества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обучающей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выборки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5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793790" y="2672120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950"/>
              <a:buFont typeface="Raleway"/>
              <a:buNone/>
            </a:pPr>
            <a:r>
              <a:rPr lang="en-US" sz="19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Разметка данных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793790" y="3205520"/>
            <a:ext cx="5971220" cy="4425553"/>
          </a:xfrm>
          <a:prstGeom prst="roundRect">
            <a:avLst>
              <a:gd name="adj" fmla="val 5764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C7C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770930" y="3205520"/>
            <a:ext cx="87933" cy="4341691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1083588" y="3426738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950"/>
              <a:buFont typeface="Raleway"/>
              <a:buNone/>
            </a:pPr>
            <a:r>
              <a:rPr lang="en-US" sz="19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По категории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1083588" y="3935254"/>
            <a:ext cx="5303420" cy="3472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Присвоение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меток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основе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типа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атаки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(DDoS, DoS, Scan)</a:t>
            </a:r>
            <a:endParaRPr lang="ru-RU" sz="1550" dirty="0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lnSpc>
                <a:spcPct val="161290"/>
              </a:lnSpc>
              <a:buClr>
                <a:srgbClr val="3C3939"/>
              </a:buClr>
              <a:buSzPts val="1550"/>
            </a:pPr>
            <a:r>
              <a:rPr lang="en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Calibri"/>
              </a:rPr>
              <a:t>scan_indicator</a:t>
            </a:r>
            <a:r>
              <a:rPr lang="en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Calibri"/>
              </a:rPr>
              <a:t> — </a:t>
            </a:r>
            <a:r>
              <a:rPr lang="ru-RU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Calibri"/>
              </a:rPr>
              <a:t>малое число пакетов и короткая сессия </a:t>
            </a:r>
          </a:p>
          <a:p>
            <a:pPr>
              <a:lnSpc>
                <a:spcPct val="161290"/>
              </a:lnSpc>
              <a:buClr>
                <a:srgbClr val="3C3939"/>
              </a:buClr>
              <a:buSzPts val="1550"/>
            </a:pPr>
            <a:r>
              <a:rPr lang="en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Calibri"/>
              </a:rPr>
              <a:t>flood_indicator</a:t>
            </a:r>
            <a:r>
              <a:rPr lang="en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Calibri"/>
              </a:rPr>
              <a:t> — </a:t>
            </a:r>
            <a:r>
              <a:rPr lang="ru-RU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Calibri"/>
              </a:rPr>
              <a:t>высокая интенсивность трафика (</a:t>
            </a:r>
            <a:r>
              <a:rPr lang="en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Calibri"/>
              </a:rPr>
              <a:t>DDoS/DoS)</a:t>
            </a:r>
          </a:p>
          <a:p>
            <a:pPr>
              <a:lnSpc>
                <a:spcPct val="161290"/>
              </a:lnSpc>
              <a:buClr>
                <a:srgbClr val="3C3939"/>
              </a:buClr>
              <a:buSzPts val="1550"/>
            </a:pPr>
            <a:r>
              <a:rPr lang="en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Calibri"/>
              </a:rPr>
              <a:t>exfil_indicator</a:t>
            </a:r>
            <a:r>
              <a:rPr lang="en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Calibri"/>
              </a:rPr>
              <a:t> — </a:t>
            </a:r>
            <a:r>
              <a:rPr lang="ru-RU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Calibri"/>
              </a:rPr>
              <a:t>большой объём данных за короткое время (утечка данных)</a:t>
            </a:r>
            <a:endParaRPr sz="1550" dirty="0">
              <a:solidFill>
                <a:srgbClr val="3C3939"/>
              </a:solidFill>
              <a:latin typeface="Roboto"/>
              <a:ea typeface="Roboto"/>
              <a:cs typeface="Roboto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7564874" y="2672120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950"/>
              <a:buFont typeface="Raleway"/>
              <a:buNone/>
            </a:pPr>
            <a:r>
              <a:rPr lang="en-US" sz="19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Очистка данных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7564874" y="3205520"/>
            <a:ext cx="6279356" cy="1268492"/>
          </a:xfrm>
          <a:prstGeom prst="roundRect">
            <a:avLst>
              <a:gd name="adj" fmla="val 8650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C7C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7542014" y="3205520"/>
            <a:ext cx="91440" cy="1268492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7854672" y="3426738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950"/>
              <a:buFont typeface="Raleway"/>
              <a:buNone/>
            </a:pPr>
            <a:r>
              <a:rPr lang="en-US" sz="19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Удаление записей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7854672" y="3935254"/>
            <a:ext cx="5768340" cy="317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Удаление некорректных и неполных записей из датасета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7564874" y="4672370"/>
            <a:ext cx="6279356" cy="1268492"/>
          </a:xfrm>
          <a:prstGeom prst="roundRect">
            <a:avLst>
              <a:gd name="adj" fmla="val 8650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C7C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7542014" y="4672370"/>
            <a:ext cx="91440" cy="1268492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7854672" y="4893588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950"/>
              <a:buFont typeface="Raleway"/>
              <a:buNone/>
            </a:pPr>
            <a:r>
              <a:rPr lang="en-US" sz="1950" dirty="0">
                <a:solidFill>
                  <a:srgbClr val="3C3939"/>
                </a:solidFill>
                <a:latin typeface="Raleway"/>
                <a:ea typeface="Calibri"/>
                <a:cs typeface="Calibri"/>
                <a:sym typeface="Raleway"/>
              </a:rPr>
              <a:t>Input </a:t>
            </a:r>
            <a:r>
              <a:rPr lang="ru-RU" sz="1950" dirty="0">
                <a:solidFill>
                  <a:srgbClr val="3C3939"/>
                </a:solidFill>
                <a:latin typeface="Raleway"/>
                <a:ea typeface="Calibri"/>
                <a:cs typeface="Calibri"/>
                <a:sym typeface="Raleway"/>
              </a:rPr>
              <a:t>обработка</a:t>
            </a:r>
            <a:endParaRPr sz="1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7854672" y="5402104"/>
            <a:ext cx="5768340" cy="317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Обработка пропущенных значений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7564874" y="6139220"/>
            <a:ext cx="6279356" cy="1268492"/>
          </a:xfrm>
          <a:prstGeom prst="roundRect">
            <a:avLst>
              <a:gd name="adj" fmla="val 8650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C7C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7542014" y="6139220"/>
            <a:ext cx="91440" cy="1268492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7854672" y="6360438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950"/>
              <a:buFont typeface="Raleway"/>
              <a:buNone/>
            </a:pPr>
            <a:r>
              <a:rPr lang="en-US" sz="19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Удаление констант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7854672" y="6868954"/>
            <a:ext cx="5768340" cy="317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Удаление признаков с нулевой вариативностью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12801600" y="7650178"/>
            <a:ext cx="1747319" cy="506994"/>
          </a:xfrm>
          <a:prstGeom prst="rect">
            <a:avLst/>
          </a:prstGeom>
          <a:solidFill>
            <a:srgbClr val="FEFE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"/>
          <p:cNvSpPr/>
          <p:nvPr/>
        </p:nvSpPr>
        <p:spPr>
          <a:xfrm>
            <a:off x="793790" y="1626989"/>
            <a:ext cx="10051375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Raleway"/>
              <a:buNone/>
            </a:pPr>
            <a:r>
              <a:rPr lang="en-US" sz="44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Нормализация и разбиение выборки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793790" y="2902744"/>
            <a:ext cx="3483173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Нормализация признаков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793790" y="3512225"/>
            <a:ext cx="6244709" cy="1179433"/>
          </a:xfrm>
          <a:prstGeom prst="roundRect">
            <a:avLst>
              <a:gd name="adj" fmla="val 807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782478" y="3648314"/>
            <a:ext cx="6267331" cy="1179433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1065967" y="3739039"/>
            <a:ext cx="5700355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Consolas"/>
              <a:buNone/>
            </a:pPr>
            <a:r>
              <a:rPr lang="en-US" sz="175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data[, pkt_count := scale(pkt_count)]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Consolas"/>
              <a:buNone/>
            </a:pPr>
            <a:r>
              <a:rPr lang="en-US" sz="175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data[, byte_count := scale(byte_count)]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793790" y="4946809"/>
            <a:ext cx="6244709" cy="1096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Consolas"/>
              <a:buNone/>
            </a:pPr>
            <a:r>
              <a:rPr lang="en-US" sz="1750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scale()</a:t>
            </a: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приводит признаки к единому масштабу (среднее = 0, σ = 1). Это критично для корректной работы алгоритмов ML.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7599521" y="2902744"/>
            <a:ext cx="3105507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Разбиение на выборки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7599521" y="3512225"/>
            <a:ext cx="6244709" cy="1542336"/>
          </a:xfrm>
          <a:prstGeom prst="roundRect">
            <a:avLst>
              <a:gd name="adj" fmla="val 617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3"/>
          <p:cNvSpPr/>
          <p:nvPr/>
        </p:nvSpPr>
        <p:spPr>
          <a:xfrm>
            <a:off x="7588210" y="3512225"/>
            <a:ext cx="6267331" cy="1542336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7871698" y="3739039"/>
            <a:ext cx="5700355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Consolas"/>
              <a:buNone/>
            </a:pPr>
            <a:r>
              <a:rPr lang="en-US" sz="175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train_idx &lt;- sample(.N, .N * 0.7)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Consolas"/>
              <a:buNone/>
            </a:pPr>
            <a:r>
              <a:rPr lang="en-US" sz="175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train &lt;- data[train_idx]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Consolas"/>
              <a:buNone/>
            </a:pPr>
            <a:r>
              <a:rPr lang="en-US" sz="175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test  &lt;- data[-train_idx]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7599521" y="5309711"/>
            <a:ext cx="6244709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Случайное разбиение: </a:t>
            </a:r>
            <a:r>
              <a:rPr lang="en-US" sz="1750" b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70%</a:t>
            </a: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обучающая выборка, </a:t>
            </a:r>
            <a:r>
              <a:rPr lang="en-US" sz="1750" b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30%</a:t>
            </a: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тестовая. Позволяет объективно оценивать качество модели.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12801600" y="7650178"/>
            <a:ext cx="1747200" cy="507000"/>
          </a:xfrm>
          <a:prstGeom prst="rect">
            <a:avLst/>
          </a:prstGeom>
          <a:solidFill>
            <a:srgbClr val="FEFE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4"/>
          <p:cNvSpPr/>
          <p:nvPr/>
        </p:nvSpPr>
        <p:spPr>
          <a:xfrm>
            <a:off x="706993" y="637937"/>
            <a:ext cx="6990517" cy="631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950"/>
              <a:buFont typeface="Raleway"/>
              <a:buNone/>
            </a:pPr>
            <a:r>
              <a:rPr lang="en-US" sz="39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Итоговая таблица признаков</a:t>
            </a:r>
            <a:endParaRPr sz="3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706993" y="1629013"/>
            <a:ext cx="13216414" cy="611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В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результате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ETL-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пайплайна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формируется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b="1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более</a:t>
            </a:r>
            <a:r>
              <a:rPr lang="en-US" sz="1550" b="1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40 </a:t>
            </a:r>
            <a:r>
              <a:rPr lang="en-US" sz="1550" b="1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признаков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описывающих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сетевые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потоки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временном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транспортном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и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прикладном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5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уровнях</a:t>
            </a:r>
            <a:r>
              <a:rPr lang="en-US" sz="15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5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706993" y="2442448"/>
            <a:ext cx="13216414" cy="5149215"/>
          </a:xfrm>
          <a:prstGeom prst="roundRect">
            <a:avLst>
              <a:gd name="adj" fmla="val 1648"/>
            </a:avLst>
          </a:prstGeom>
          <a:noFill/>
          <a:ln w="9525" cap="flat" cmpd="sng">
            <a:solidFill>
              <a:srgbClr val="000000">
                <a:alpha val="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4"/>
          <p:cNvSpPr/>
          <p:nvPr/>
        </p:nvSpPr>
        <p:spPr>
          <a:xfrm>
            <a:off x="714613" y="2450068"/>
            <a:ext cx="13201174" cy="536496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4"/>
          <p:cNvSpPr/>
          <p:nvPr/>
        </p:nvSpPr>
        <p:spPr>
          <a:xfrm>
            <a:off x="916662" y="2565559"/>
            <a:ext cx="1968460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 b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Группа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3296603" y="2565559"/>
            <a:ext cx="3812858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 b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Поля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7520940" y="2565559"/>
            <a:ext cx="6192917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 b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Описание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714613" y="2986564"/>
            <a:ext cx="13201174" cy="536496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4"/>
          <p:cNvSpPr/>
          <p:nvPr/>
        </p:nvSpPr>
        <p:spPr>
          <a:xfrm>
            <a:off x="916662" y="3102054"/>
            <a:ext cx="1968460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Идентификаторы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3296603" y="3102054"/>
            <a:ext cx="3812858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src_ip, dst_ip, proto_name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7520940" y="3102054"/>
            <a:ext cx="6192917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Базовые параметры соединения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714613" y="3523059"/>
            <a:ext cx="13201174" cy="536496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4"/>
          <p:cNvSpPr/>
          <p:nvPr/>
        </p:nvSpPr>
        <p:spPr>
          <a:xfrm>
            <a:off x="916662" y="3638550"/>
            <a:ext cx="1968460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Временные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3296603" y="3638550"/>
            <a:ext cx="3812858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duration, mean_iat, std_iat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7520940" y="3638550"/>
            <a:ext cx="6192917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Время между пакетами и длительность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714613" y="4059555"/>
            <a:ext cx="13201174" cy="536496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916662" y="4175046"/>
            <a:ext cx="1968460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Объём трафика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3296603" y="4175046"/>
            <a:ext cx="3812858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pkt_count, byte_count, mean_pkt_len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7520940" y="4175046"/>
            <a:ext cx="6192917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Количество и размер данных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714613" y="4596051"/>
            <a:ext cx="13201174" cy="536496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4"/>
          <p:cNvSpPr/>
          <p:nvPr/>
        </p:nvSpPr>
        <p:spPr>
          <a:xfrm>
            <a:off x="916662" y="4711541"/>
            <a:ext cx="1968460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Скоростные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3296603" y="4711541"/>
            <a:ext cx="3812858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pkt_rate, byte_rate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7520940" y="4711541"/>
            <a:ext cx="6192917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Интенсивность передачи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714613" y="5132546"/>
            <a:ext cx="13201174" cy="536496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4"/>
          <p:cNvSpPr/>
          <p:nvPr/>
        </p:nvSpPr>
        <p:spPr>
          <a:xfrm>
            <a:off x="916662" y="5248037"/>
            <a:ext cx="1968460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TCP признаки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3296603" y="5248037"/>
            <a:ext cx="3812858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has_syn, has_ack, has_fin, has_rst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7520940" y="5248037"/>
            <a:ext cx="6192917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Поведение TCP-соединения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714613" y="5669042"/>
            <a:ext cx="13201174" cy="536496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4"/>
          <p:cNvSpPr/>
          <p:nvPr/>
        </p:nvSpPr>
        <p:spPr>
          <a:xfrm>
            <a:off x="916662" y="5784532"/>
            <a:ext cx="1968460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Сетевые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3296603" y="5784532"/>
            <a:ext cx="3812858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mean_ttl, mean_win_size, mean_ack_rtt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7520940" y="5784532"/>
            <a:ext cx="6192917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Характеристики сетевого уровня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714613" y="6205538"/>
            <a:ext cx="13201174" cy="84201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4"/>
          <p:cNvSpPr/>
          <p:nvPr/>
        </p:nvSpPr>
        <p:spPr>
          <a:xfrm>
            <a:off x="916662" y="6321028"/>
            <a:ext cx="1968460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Поведенческие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3296603" y="6321028"/>
            <a:ext cx="3812858" cy="611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scan_indicator, flood_indicator, exfil_indicator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7520940" y="6321028"/>
            <a:ext cx="6192917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Индикаторы атак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714613" y="7047548"/>
            <a:ext cx="13201174" cy="536496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4"/>
          <p:cNvSpPr/>
          <p:nvPr/>
        </p:nvSpPr>
        <p:spPr>
          <a:xfrm>
            <a:off x="916662" y="7163038"/>
            <a:ext cx="1968460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Протоколы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3296603" y="7163038"/>
            <a:ext cx="3812858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has_dns, has_http, has_mqtt, is_iot_proto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7520940" y="7163038"/>
            <a:ext cx="6192917" cy="30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oboto"/>
              <a:buNone/>
            </a:pPr>
            <a:r>
              <a:rPr lang="en-US" sz="15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Используемые протоколы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12801600" y="7650178"/>
            <a:ext cx="1747200" cy="507000"/>
          </a:xfrm>
          <a:prstGeom prst="rect">
            <a:avLst/>
          </a:prstGeom>
          <a:solidFill>
            <a:srgbClr val="FEFE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5"/>
          <p:cNvSpPr/>
          <p:nvPr/>
        </p:nvSpPr>
        <p:spPr>
          <a:xfrm>
            <a:off x="2301954" y="406598"/>
            <a:ext cx="7843532" cy="39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500"/>
              <a:buFont typeface="Raleway"/>
              <a:buNone/>
            </a:pPr>
            <a:r>
              <a:rPr lang="en-US" sz="2500" dirty="0" err="1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Нормализация</a:t>
            </a:r>
            <a:r>
              <a:rPr lang="en-US" sz="2500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500" dirty="0" err="1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и</a:t>
            </a:r>
            <a:r>
              <a:rPr lang="en-US" sz="2500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500" dirty="0" err="1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подготовка</a:t>
            </a:r>
            <a:r>
              <a:rPr lang="en-US" sz="2500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500" dirty="0" err="1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выборок</a:t>
            </a: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2301954" y="966788"/>
            <a:ext cx="10026491" cy="500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lang="en-US" sz="1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Перед использованием в моделях машинного обучения признаки </a:t>
            </a:r>
            <a:r>
              <a:rPr lang="en-US" sz="1000" b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нормализуются</a:t>
            </a:r>
            <a:r>
              <a:rPr lang="en-US" sz="1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с использованием методов Min-Max или Z-score. Дополнительно сохраняются параметры нормализации (scaler), данные разделяются на обучающую, валидационную и тестовую выборки, используется формат Parquet для эффективного хранения. Такой подход обеспечивает корректность и воспроизводимость экспериментов.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2301954" y="1640205"/>
            <a:ext cx="1749862" cy="198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250"/>
              <a:buFont typeface="Raleway"/>
              <a:buNone/>
            </a:pPr>
            <a:r>
              <a:rPr lang="en-US" sz="12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Методы нормализации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2301954" y="1930360"/>
            <a:ext cx="4858226" cy="882968"/>
          </a:xfrm>
          <a:prstGeom prst="roundRect">
            <a:avLst>
              <a:gd name="adj" fmla="val 6048"/>
            </a:avLst>
          </a:prstGeom>
          <a:solidFill>
            <a:srgbClr val="E1E1EA"/>
          </a:solidFill>
          <a:ln w="9525" cap="flat" cmpd="sng">
            <a:solidFill>
              <a:srgbClr val="C7C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5"/>
          <p:cNvSpPr/>
          <p:nvPr/>
        </p:nvSpPr>
        <p:spPr>
          <a:xfrm>
            <a:off x="2309574" y="1937980"/>
            <a:ext cx="2421493" cy="867727"/>
          </a:xfrm>
          <a:prstGeom prst="roundRect">
            <a:avLst>
              <a:gd name="adj" fmla="val 6154"/>
            </a:avLst>
          </a:prstGeom>
          <a:solidFill>
            <a:srgbClr val="E1E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5"/>
          <p:cNvSpPr/>
          <p:nvPr/>
        </p:nvSpPr>
        <p:spPr>
          <a:xfrm>
            <a:off x="2436614" y="2065020"/>
            <a:ext cx="1589246" cy="198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50"/>
              <a:buFont typeface="Raleway"/>
              <a:buNone/>
            </a:pPr>
            <a:r>
              <a:rPr lang="en-US" sz="12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Min-Max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2436614" y="2345055"/>
            <a:ext cx="2167414" cy="33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lang="en-US" sz="1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Масштабирование значений в диапазон [0, 1]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4731068" y="1937980"/>
            <a:ext cx="2421493" cy="867727"/>
          </a:xfrm>
          <a:prstGeom prst="rect">
            <a:avLst/>
          </a:prstGeom>
          <a:solidFill>
            <a:srgbClr val="E1E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5"/>
          <p:cNvSpPr/>
          <p:nvPr/>
        </p:nvSpPr>
        <p:spPr>
          <a:xfrm>
            <a:off x="4731068" y="1937980"/>
            <a:ext cx="15240" cy="867727"/>
          </a:xfrm>
          <a:prstGeom prst="roundRect">
            <a:avLst>
              <a:gd name="adj" fmla="val 350407"/>
            </a:avLst>
          </a:prstGeom>
          <a:solidFill>
            <a:srgbClr val="C7C7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25"/>
          <p:cNvSpPr/>
          <p:nvPr/>
        </p:nvSpPr>
        <p:spPr>
          <a:xfrm>
            <a:off x="4858107" y="2065020"/>
            <a:ext cx="1589246" cy="198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50"/>
              <a:buFont typeface="Raleway"/>
              <a:buNone/>
            </a:pPr>
            <a:r>
              <a:rPr lang="en-US" sz="12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Z-score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4858107" y="2345055"/>
            <a:ext cx="2167414" cy="33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lang="en-US" sz="1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Стандартизация с нулевым средним и единичной дисперсией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7477838" y="1640205"/>
            <a:ext cx="2386923" cy="198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250"/>
              <a:buFont typeface="Raleway"/>
              <a:buNone/>
            </a:pPr>
            <a:r>
              <a:rPr lang="en-US" sz="1250" dirty="0" err="1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Подготовка</a:t>
            </a:r>
            <a:r>
              <a:rPr lang="en-US" sz="1250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250" dirty="0" err="1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выборок</a:t>
            </a:r>
            <a:endParaRPr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7477839" y="1920240"/>
            <a:ext cx="4858226" cy="557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Char char="•"/>
            </a:pPr>
            <a:r>
              <a:rPr lang="en-US" sz="100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Сохранение</a:t>
            </a:r>
            <a:r>
              <a:rPr lang="en-US" sz="1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параметров</a:t>
            </a:r>
            <a:r>
              <a:rPr lang="en-US" sz="1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scaler </a:t>
            </a:r>
            <a:r>
              <a:rPr lang="en-US" sz="100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для</a:t>
            </a:r>
            <a:r>
              <a:rPr lang="en-US" sz="1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воспроизводимости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Char char="•"/>
            </a:pPr>
            <a:r>
              <a:rPr lang="en-US" sz="100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Использование</a:t>
            </a:r>
            <a:r>
              <a:rPr lang="en-US" sz="1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формата</a:t>
            </a:r>
            <a:r>
              <a:rPr lang="en-US" sz="1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b="1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Parquet</a:t>
            </a:r>
            <a:r>
              <a:rPr lang="en-US" sz="1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для</a:t>
            </a:r>
            <a:r>
              <a:rPr lang="en-US" sz="1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эффективного</a:t>
            </a:r>
            <a:r>
              <a:rPr lang="en-US" sz="1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хранения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p2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01954" y="2996446"/>
            <a:ext cx="10026491" cy="4401383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5"/>
          <p:cNvSpPr/>
          <p:nvPr/>
        </p:nvSpPr>
        <p:spPr>
          <a:xfrm>
            <a:off x="4002809" y="6388119"/>
            <a:ext cx="1757561" cy="27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700"/>
              <a:buFont typeface="Raleway"/>
              <a:buNone/>
            </a:pPr>
            <a:r>
              <a:rPr lang="en-US" sz="17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Нормализация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4002809" y="6736975"/>
            <a:ext cx="1757561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oboto"/>
              <a:buNone/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Min‑Max или Z‑score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8937497" y="6142320"/>
            <a:ext cx="1757561" cy="27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700"/>
              <a:buFont typeface="Raleway"/>
              <a:buNone/>
            </a:pPr>
            <a:r>
              <a:rPr lang="en-US" sz="17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Сохранение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8937497" y="6491176"/>
            <a:ext cx="1757561" cy="356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oboto"/>
              <a:buNone/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Parquet и параметры scaler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5"/>
          <p:cNvSpPr/>
          <p:nvPr/>
        </p:nvSpPr>
        <p:spPr>
          <a:xfrm>
            <a:off x="6484639" y="3457997"/>
            <a:ext cx="1757560" cy="27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700"/>
              <a:buFont typeface="Raleway"/>
              <a:buNone/>
            </a:pPr>
            <a:r>
              <a:rPr lang="en-US" sz="17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Разбиение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6484639" y="3806853"/>
            <a:ext cx="175756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oboto"/>
              <a:buNone/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train / val / test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2301954" y="7489388"/>
            <a:ext cx="10026491" cy="33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lang="en-US" sz="1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Трёхэтапный процесс подготовки данных обеспечивает корректность нормализации, корректное разделение на выборки и эффективное хранение с сохранением параметров масштабирования.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12801600" y="7650178"/>
            <a:ext cx="1747319" cy="506994"/>
          </a:xfrm>
          <a:prstGeom prst="rect">
            <a:avLst/>
          </a:prstGeom>
          <a:solidFill>
            <a:srgbClr val="FEFE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1104</Words>
  <Application>Microsoft Macintosh PowerPoint</Application>
  <PresentationFormat>Произвольный</PresentationFormat>
  <Paragraphs>178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Raleway</vt:lpstr>
      <vt:lpstr>Calibri</vt:lpstr>
      <vt:lpstr>Raleway Light</vt:lpstr>
      <vt:lpstr>Roboto</vt:lpstr>
      <vt:lpstr>Arial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kylukov</cp:lastModifiedBy>
  <cp:revision>8</cp:revision>
  <dcterms:modified xsi:type="dcterms:W3CDTF">2026-04-25T11:01:11Z</dcterms:modified>
</cp:coreProperties>
</file>